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 orient="horz"/>
        <p:guide pos="192"/>
        <p:guide pos="10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9af5f159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99af5f159e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sign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 cap="flat" cmpd="sng" w="25400">
            <a:solidFill>
              <a:srgbClr val="2132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white background&#10;&#10;Description automatically generated with medium confidence" id="9" name="Google Shape;9;p1"/>
          <p:cNvPicPr preferRelativeResize="0"/>
          <p:nvPr/>
        </p:nvPicPr>
        <p:blipFill rotWithShape="1">
          <a:blip r:embed="rId2">
            <a:alphaModFix amt="16000"/>
          </a:blip>
          <a:srcRect b="63695" l="0" r="1618" t="24724"/>
          <a:stretch/>
        </p:blipFill>
        <p:spPr>
          <a:xfrm>
            <a:off x="0" y="-1"/>
            <a:ext cx="9839325" cy="72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reepik.com/" TargetMode="External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12" Type="http://schemas.openxmlformats.org/officeDocument/2006/relationships/image" Target="../media/image22.png"/><Relationship Id="rId9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hyperlink" Target="https://github.com/chandan-911/Electric-Vehicl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desk with a computer&#10;&#10;Description automatically generated" id="19" name="Google Shape;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/>
          <p:nvPr/>
        </p:nvSpPr>
        <p:spPr>
          <a:xfrm>
            <a:off x="5873750" y="584200"/>
            <a:ext cx="4673600" cy="977900"/>
          </a:xfrm>
          <a:prstGeom prst="roundRect">
            <a:avLst>
              <a:gd fmla="val 16667" name="adj"/>
            </a:avLst>
          </a:prstGeom>
          <a:solidFill>
            <a:srgbClr val="EBEEF9"/>
          </a:solidFill>
          <a:ln cap="flat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/>
          <p:cNvSpPr txBox="1"/>
          <p:nvPr/>
        </p:nvSpPr>
        <p:spPr>
          <a:xfrm>
            <a:off x="4151586" y="3429000"/>
            <a:ext cx="68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 Range Predictor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6"/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descr="A close up of a logo&#10;&#10;Description automatically generated" id="23" name="Google Shape;2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yellow and red shell logo&#10;&#10;Description automatically generated" id="24" name="Google Shape;24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6"/>
          <p:cNvSpPr txBox="1"/>
          <p:nvPr/>
        </p:nvSpPr>
        <p:spPr>
          <a:xfrm>
            <a:off x="7252100" y="4075500"/>
            <a:ext cx="387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AI-Powered Electric Vehicle Range Prediction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</a:t>
            </a:r>
            <a:endParaRPr/>
          </a:p>
        </p:txBody>
      </p:sp>
      <p:sp>
        <p:nvSpPr>
          <p:cNvPr id="32" name="Google Shape;32;p7"/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www.freepik.com/</a:t>
            </a:r>
            <a:endParaRPr b="0" i="0" sz="12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7"/>
          <p:cNvCxnSpPr/>
          <p:nvPr/>
        </p:nvCxnSpPr>
        <p:spPr>
          <a:xfrm>
            <a:off x="0" y="605536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ladder leading to a large yellow circle&#10;&#10;Description automatically generated" id="34" name="Google Shape;34;p7"/>
          <p:cNvPicPr preferRelativeResize="0"/>
          <p:nvPr/>
        </p:nvPicPr>
        <p:blipFill rotWithShape="1">
          <a:blip r:embed="rId4">
            <a:alphaModFix amt="85000"/>
          </a:blip>
          <a:srcRect b="0" l="13763" r="13650" t="6135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576700" y="2006425"/>
            <a:ext cx="7075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Understand factors influencing EV driving range</a:t>
            </a:r>
            <a:br>
              <a:rPr lang="en-U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Learn ML workflow: EDA → Model Training → Evaluation</a:t>
            </a:r>
            <a:br>
              <a:rPr lang="en-U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Build an accurate range prediction model</a:t>
            </a:r>
            <a:br>
              <a:rPr lang="en-U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Integrate AI for insights and user interaction chatbot</a:t>
            </a:r>
            <a:br>
              <a:rPr lang="en-U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Develop a Streamlit-based EV prediction web app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ools and Technology used </a:t>
            </a:r>
            <a:endParaRPr/>
          </a:p>
        </p:txBody>
      </p:sp>
      <p:sp>
        <p:nvSpPr>
          <p:cNvPr id="42" name="Google Shape;42;p8"/>
          <p:cNvSpPr txBox="1"/>
          <p:nvPr/>
        </p:nvSpPr>
        <p:spPr>
          <a:xfrm>
            <a:off x="388675" y="1792075"/>
            <a:ext cx="88131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Python</a:t>
            </a:r>
            <a:r>
              <a:rPr lang="en-US" sz="1800">
                <a:solidFill>
                  <a:schemeClr val="dk1"/>
                </a:solidFill>
              </a:rPr>
              <a:t> – Core language for data analysis and ML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Pandas, NumPy</a:t>
            </a:r>
            <a:r>
              <a:rPr lang="en-US" sz="1800">
                <a:solidFill>
                  <a:schemeClr val="dk1"/>
                </a:solidFill>
              </a:rPr>
              <a:t> – Data preprocessing and manipulation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Matplotlib, Seaborn</a:t>
            </a:r>
            <a:r>
              <a:rPr lang="en-US" sz="1800">
                <a:solidFill>
                  <a:schemeClr val="dk1"/>
                </a:solidFill>
              </a:rPr>
              <a:t> – Data visualization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Scikit-learn</a:t>
            </a:r>
            <a:r>
              <a:rPr lang="en-US" sz="1800">
                <a:solidFill>
                  <a:schemeClr val="dk1"/>
                </a:solidFill>
              </a:rPr>
              <a:t> – Machine learning model development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Joblib</a:t>
            </a:r>
            <a:r>
              <a:rPr lang="en-US" sz="1800">
                <a:solidFill>
                  <a:schemeClr val="dk1"/>
                </a:solidFill>
              </a:rPr>
              <a:t> – Model saving and loading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Jupyter Notebook</a:t>
            </a:r>
            <a:r>
              <a:rPr lang="en-US" sz="1800">
                <a:solidFill>
                  <a:schemeClr val="dk1"/>
                </a:solidFill>
              </a:rPr>
              <a:t> – EDA and experimentation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HuggingFace API + DeepSeek-V3.2</a:t>
            </a:r>
            <a:r>
              <a:rPr lang="en-US" sz="1800">
                <a:solidFill>
                  <a:schemeClr val="dk1"/>
                </a:solidFill>
              </a:rPr>
              <a:t> – AI assistant integration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Streamlit</a:t>
            </a:r>
            <a:r>
              <a:rPr lang="en-US" sz="1800">
                <a:solidFill>
                  <a:schemeClr val="dk1"/>
                </a:solidFill>
              </a:rPr>
              <a:t> – Web application interface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" name="Google Shape;43;p8"/>
          <p:cNvPicPr preferRelativeResize="0"/>
          <p:nvPr/>
        </p:nvPicPr>
        <p:blipFill rotWithShape="1">
          <a:blip r:embed="rId3">
            <a:alphaModFix/>
          </a:blip>
          <a:srcRect b="0" l="0" r="75326" t="0"/>
          <a:stretch/>
        </p:blipFill>
        <p:spPr>
          <a:xfrm>
            <a:off x="7989008" y="822238"/>
            <a:ext cx="1230076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2875" y="869400"/>
            <a:ext cx="1315375" cy="131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4725" y="2349487"/>
            <a:ext cx="1455325" cy="119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21400" y="2341925"/>
            <a:ext cx="2060376" cy="4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8"/>
          <p:cNvPicPr preferRelativeResize="0"/>
          <p:nvPr/>
        </p:nvPicPr>
        <p:blipFill rotWithShape="1">
          <a:blip r:embed="rId7">
            <a:alphaModFix/>
          </a:blip>
          <a:srcRect b="0" l="0" r="75112" t="0"/>
          <a:stretch/>
        </p:blipFill>
        <p:spPr>
          <a:xfrm>
            <a:off x="10718897" y="2993563"/>
            <a:ext cx="1315375" cy="151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70775" y="4295500"/>
            <a:ext cx="2162100" cy="7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01763" y="3106938"/>
            <a:ext cx="995425" cy="9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95188" y="5498200"/>
            <a:ext cx="11049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11">
            <a:alphaModFix/>
          </a:blip>
          <a:srcRect b="0" l="0" r="69558" t="0"/>
          <a:stretch/>
        </p:blipFill>
        <p:spPr>
          <a:xfrm>
            <a:off x="10521625" y="4845400"/>
            <a:ext cx="1315374" cy="91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958325" y="5579875"/>
            <a:ext cx="2060376" cy="115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r>
              <a:rPr b="1" i="0" lang="en-US" sz="1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524500" y="1931750"/>
            <a:ext cx="8399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Problem Definition</a:t>
            </a:r>
            <a:r>
              <a:rPr lang="en-US" sz="1800">
                <a:solidFill>
                  <a:schemeClr val="dk1"/>
                </a:solidFill>
              </a:rPr>
              <a:t> – Predict EV driving range using specifications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Data Preprocessing</a:t>
            </a:r>
            <a:r>
              <a:rPr lang="en-US" sz="1800">
                <a:solidFill>
                  <a:schemeClr val="dk1"/>
                </a:solidFill>
              </a:rPr>
              <a:t> – Cleaning, feature selection, and encoding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Exploratory Data Analysis</a:t>
            </a:r>
            <a:r>
              <a:rPr lang="en-US" sz="1800">
                <a:solidFill>
                  <a:schemeClr val="dk1"/>
                </a:solidFill>
              </a:rPr>
              <a:t> – Understanding patterns and correlations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Model Building</a:t>
            </a:r>
            <a:r>
              <a:rPr lang="en-US" sz="1800">
                <a:solidFill>
                  <a:schemeClr val="dk1"/>
                </a:solidFill>
              </a:rPr>
              <a:t> – Training Random Forest Regressor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Model Evaluation</a:t>
            </a:r>
            <a:r>
              <a:rPr lang="en-US" sz="1800">
                <a:solidFill>
                  <a:schemeClr val="dk1"/>
                </a:solidFill>
              </a:rPr>
              <a:t> – MAE, RMSE, and R² performance assessment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Deployment</a:t>
            </a:r>
            <a:r>
              <a:rPr lang="en-US" sz="1800">
                <a:solidFill>
                  <a:schemeClr val="dk1"/>
                </a:solidFill>
              </a:rPr>
              <a:t> – Streamlit-based interactive prediction app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AI Integration</a:t>
            </a:r>
            <a:r>
              <a:rPr lang="en-US" sz="1800">
                <a:solidFill>
                  <a:schemeClr val="dk1"/>
                </a:solidFill>
              </a:rPr>
              <a:t> – Adding DeepSeek-powered insights and chat assistant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9" name="Google Shape;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7025" y="1257300"/>
            <a:ext cx="3261100" cy="489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Problem Statement:  </a:t>
            </a:r>
            <a:endParaRPr b="1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3725" y="2397225"/>
            <a:ext cx="3426700" cy="34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/>
          <p:nvPr/>
        </p:nvSpPr>
        <p:spPr>
          <a:xfrm>
            <a:off x="487825" y="1714500"/>
            <a:ext cx="7815900" cy="4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Electric vehicle buyers often face </a:t>
            </a:r>
            <a:r>
              <a:rPr b="1" lang="en-US" sz="1800">
                <a:solidFill>
                  <a:schemeClr val="dk1"/>
                </a:solidFill>
              </a:rPr>
              <a:t>range anxiety</a:t>
            </a:r>
            <a:r>
              <a:rPr lang="en-US" sz="1800">
                <a:solidFill>
                  <a:schemeClr val="dk1"/>
                </a:solidFill>
              </a:rPr>
              <a:t> due to uncertainty in real-world driving range.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EV range depends on multiple changing factors like </a:t>
            </a:r>
            <a:r>
              <a:rPr b="1" lang="en-US" sz="1800">
                <a:solidFill>
                  <a:schemeClr val="dk1"/>
                </a:solidFill>
              </a:rPr>
              <a:t>temperature, terrain, battery health, and driving style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Manufacturers provide a rated range, but </a:t>
            </a:r>
            <a:r>
              <a:rPr b="1" lang="en-US" sz="1800">
                <a:solidFill>
                  <a:schemeClr val="dk1"/>
                </a:solidFill>
              </a:rPr>
              <a:t>actual performance varies significantly</a:t>
            </a:r>
            <a:r>
              <a:rPr lang="en-US" sz="1800">
                <a:solidFill>
                  <a:schemeClr val="dk1"/>
                </a:solidFill>
              </a:rPr>
              <a:t>, making decision-making difficult.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There is a need for a </a:t>
            </a:r>
            <a:r>
              <a:rPr b="1" lang="en-US" sz="1800">
                <a:solidFill>
                  <a:schemeClr val="dk1"/>
                </a:solidFill>
              </a:rPr>
              <a:t>data-driven, accurate, and user-friendly system</a:t>
            </a:r>
            <a:r>
              <a:rPr lang="en-US" sz="1800">
                <a:solidFill>
                  <a:schemeClr val="dk1"/>
                </a:solidFill>
              </a:rPr>
              <a:t> that can predict EV driving range and offer intelligent insights.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/>
        </p:nvSpPr>
        <p:spPr>
          <a:xfrm>
            <a:off x="255104" y="1054412"/>
            <a:ext cx="610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Solution:  </a:t>
            </a:r>
            <a:endParaRPr b="1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 rotWithShape="1">
          <a:blip r:embed="rId3">
            <a:alphaModFix/>
          </a:blip>
          <a:srcRect b="19087" l="23763" r="22301" t="20489"/>
          <a:stretch/>
        </p:blipFill>
        <p:spPr>
          <a:xfrm>
            <a:off x="8163950" y="1900725"/>
            <a:ext cx="3799724" cy="42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/>
        </p:nvSpPr>
        <p:spPr>
          <a:xfrm>
            <a:off x="820125" y="1900725"/>
            <a:ext cx="6909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Performed complete data cleaning, preprocessing, and feature engineering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Developed a model for accurate EV range prediction</a:t>
            </a:r>
            <a:br>
              <a:rPr lang="en-U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Integrated AI (DeepSeek-V3.2) to provide insights and recommendations</a:t>
            </a:r>
            <a:br>
              <a:rPr lang="en-U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Added preset examples and clean UI for better user experience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Built a user-friendly Streamlit web app for real-time predictions</a:t>
            </a:r>
            <a:endParaRPr sz="1800"/>
          </a:p>
        </p:txBody>
      </p:sp>
      <p:sp>
        <p:nvSpPr>
          <p:cNvPr id="74" name="Google Shape;74;p11"/>
          <p:cNvSpPr txBox="1"/>
          <p:nvPr/>
        </p:nvSpPr>
        <p:spPr>
          <a:xfrm>
            <a:off x="3056650" y="5833950"/>
            <a:ext cx="42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4"/>
              </a:rPr>
              <a:t>https://github.com/chandan-911/Electric-Vehicle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Screenshot of Output:  </a:t>
            </a:r>
            <a:endParaRPr b="1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454525"/>
            <a:ext cx="9422774" cy="530032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2"/>
          <p:cNvSpPr txBox="1"/>
          <p:nvPr/>
        </p:nvSpPr>
        <p:spPr>
          <a:xfrm>
            <a:off x="10336200" y="2162175"/>
            <a:ext cx="15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Try this:</a:t>
            </a:r>
            <a:endParaRPr b="1" sz="2000"/>
          </a:p>
        </p:txBody>
      </p:sp>
      <p:pic>
        <p:nvPicPr>
          <p:cNvPr id="82" name="Google Shape;82;p12"/>
          <p:cNvPicPr preferRelativeResize="0"/>
          <p:nvPr/>
        </p:nvPicPr>
        <p:blipFill rotWithShape="1">
          <a:blip r:embed="rId4">
            <a:alphaModFix/>
          </a:blip>
          <a:srcRect b="28342" l="26884" r="27000" t="7402"/>
          <a:stretch/>
        </p:blipFill>
        <p:spPr>
          <a:xfrm>
            <a:off x="10227575" y="3170438"/>
            <a:ext cx="1580098" cy="1558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149087" y="988151"/>
            <a:ext cx="6102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b="1" i="0" lang="en-US" sz="23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23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634400" y="2031450"/>
            <a:ext cx="92913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project successfully predicts EV driving range with high accuracy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Combines ML and AI to enhance user understanding and decision-making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Provides an interactive, easy-to-use Streamlit application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Demonstrates the potential of AI-driven tools for better EV analysis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Can be extended with more features like using real-time data for better and real time prediction of range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917450"/>
            <a:ext cx="7096125" cy="50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